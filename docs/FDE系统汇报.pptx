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今天汇报分 6 部分，前 2 块讲为什么 + 怎么解；中间 3 块讲怎么落地、谁在用、能产生什么价值；最后讲下一步方向。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 4 个黑盒是过去一直存在但说不清的痛。系统建设目标就是打开这 4 个黑盒。利润瓜分是最痛的一条 — 公司付了钱，但赚的最多的不是公司。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以前对一个项目的认知停留在合同金额。系统上线后从立项到复盘每个数据点都有据可查。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解决方案拆 5 个支柱。下面 5 页每页一个。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外包路线不放弃 — 这是合规和灵活性选择。但通过系统每个工程师都被精细管理，不再是 Vendor 一群人。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能力沉淀是长期投入的回报。系统让 团队在变强 从感觉变成数字，招标 / 评级都能拿出来证明。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同一份原始数据出三种口径，按角色分发。对外讲降本故事，对内算真实账。这是系统的护城河。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成本透明化是数字化硬指标。每笔支出都有审批链可追溯。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驾驶舱是对外讲故事的窗口。客户来访可一键投屏，所有数字按合规口径展示。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环节以前散在 Excel + 邮件 + 微信群，现在串成闭环线。每个项目全部数据都在系统里。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这是项目在系统里的全部生命轨迹，所有数字都自动联动。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财务价值不是某个具体数字，而是让 公司多赚多少 这个问题永远有据可查。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运营效率提升靠机制本身的存在。以前是人在维护数据，现在是系统在维护，人只看报表。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能力沉淀的价值在于：能用数据回答 我们团队凭什么 这个问题。招标 / 评级 / 接标杆都靠它。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个角色 covering 内部 + 外部全部参与方。Vendor 也在系统里管，但每个人视野严格隔离。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权限设计不是说说，是架构层就做了隔离。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个方向之间是飞轮关系：更多标杆 → 更多沉淀 → 系统更深 → 更强资质 → 更多人才 → 更多标杆。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5669280"/>
            <a:ext cx="457200" cy="4572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07040" y="5669280"/>
            <a:ext cx="457200" cy="457200"/>
          </a:xfrm>
          <a:prstGeom prst="rect">
            <a:avLst/>
          </a:prstGeom>
          <a:solidFill>
            <a:srgbClr val="FF40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55680" y="5669280"/>
            <a:ext cx="457200" cy="457200"/>
          </a:xfrm>
          <a:prstGeom prst="rect">
            <a:avLst/>
          </a:prstGeom>
          <a:solidFill>
            <a:srgbClr val="FF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PingFang SC"/>
              </a:rPr>
              <a:t>FDE 团队管理系统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0BCD4"/>
                </a:solidFill>
                <a:latin typeface="PingFang SC"/>
              </a:rPr>
              <a:t>从外包黑盒到内化运营 · 数字化落地汇报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CF5FF"/>
                </a:solidFill>
                <a:latin typeface="PingFang SC"/>
              </a:rPr>
              <a:t>v0.6-beta  ·  2026-05-24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09399"/>
                </a:solidFill>
                <a:latin typeface="PingFang SC"/>
              </a:rPr>
              <a:t>6 个部分 · 约 25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一、痛点 — 为什么需要这套系统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二、解决方案 — 5 大支柱回应痛点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三、系统化落地 — 8 维度业务闭环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四、价值放大 — 系统能输出什么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五、多角色协作 — 6 角色 × 11 模块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六、未来演进 — 5 大战略方向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一、痛点：服务商模式的 4 个黑盒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173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615"/>
                <a:gridCol w="4507230"/>
                <a:gridCol w="4056507"/>
              </a:tblGrid>
              <a:tr h="49377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黑盒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现象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后果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💸 成本黑盒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Vendor 报价多少给多少，无对比依据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持续被报高价，议价无据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👥 人力黑盒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工程师能力 / 排班 / 满负荷度全在 Vendor 手上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关键人员流失自己不知道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📊 数据黑盒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项目交付完资料散落，知识无沉淀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同类项目重复踩坑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🎯 利润瓜分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项目利润大头被服务商截留，公司只拿薄利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公司付了大钱，团队没成长，利润给了别人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一、痛点：能看见的差距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1735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3605784"/>
                <a:gridCol w="4507230"/>
              </a:tblGrid>
              <a:tr h="4953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数据点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服务商模式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FDE 模式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客户付了多少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✅ 知道（合同）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✅ 知道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Vendor 报价多少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✅ 知道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✅ 知道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团队真实做了什么活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❌ Vendor 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✅ 工时数据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工程师能力等级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❌ 合同写 '高级工程师'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✅ 厂商认证 L1/L2/L3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客户满意度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⚠️ 口头反馈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✅ 1-5 星复盘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二、解决方案：5 大支柱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09399"/>
                </a:solidFill>
                <a:latin typeface="PingFang SC"/>
              </a:rPr>
              <a:t>5 个支柱 · 系统性回应 4 个黑盒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① 外部工程师高效管理 — 建档 + 排班 + 利用率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② 技术能力管理沉淀 — 认证 + 培训 + IDP + 知识库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③ 利润清晰可控 — 三口径并存，按角色分发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④ 团队成本精细管理 — 8 类支出 + 审批闭环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200">
                <a:solidFill>
                  <a:srgbClr val="303133"/>
                </a:solidFill>
                <a:latin typeface="PingFang SC"/>
              </a:rPr>
              <a:t>⑤ 驾驶舱价值展示 — 5 Tab 大屏，对外讲故事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46320"/>
            <a:ext cx="10817352" cy="822960"/>
          </a:xfrm>
          <a:prstGeom prst="rect">
            <a:avLst/>
          </a:prstGeom>
          <a:solidFill>
            <a:srgbClr val="ECF5FF"/>
          </a:solidFill>
          <a:ln>
            <a:solidFill>
              <a:srgbClr val="006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66B3"/>
                </a:solidFill>
                <a:latin typeface="PingFang SC"/>
              </a:rPr>
              <a:t>⭐ 每个支柱回应至少 1 个黑盒；5 个支柱组合 = 系统的完整价值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支柱 ① · 外部工程师高效管理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09399"/>
                </a:solidFill>
                <a:latin typeface="PingFang SC"/>
              </a:rPr>
              <a:t>合规建档 + 系统化排班 + 资源最大化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工程师独立建档：脱离 Vendor 视角，作为团队资源管理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2 种签约形态：Vendor 直签 / Vendor 通过劳务公司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证件号脱敏 + 解密审计：默认掩码，明文留痕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派单 Assignment：PM 直接派工，接拒留对话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工时按香港规则加权：工作日 1.0× / 加班 1.5×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满负荷率实时计算 → 驾驶舱「Top 满负荷工程师」榜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46320"/>
            <a:ext cx="10817352" cy="822960"/>
          </a:xfrm>
          <a:prstGeom prst="rect">
            <a:avLst/>
          </a:prstGeom>
          <a:solidFill>
            <a:srgbClr val="ECF5FF"/>
          </a:solidFill>
          <a:ln>
            <a:solidFill>
              <a:srgbClr val="006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66B3"/>
                </a:solidFill>
                <a:latin typeface="PingFang SC"/>
              </a:rPr>
              <a:t>⭐ 主导权回到团队：从 'Vendor 派人来' 变成 '我们派 Vendor 派的人'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支柱 ② · 技术能力管理沉淀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1735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3155061"/>
                <a:gridCol w="4957953"/>
              </a:tblGrid>
              <a:tr h="4953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维度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系统模块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能力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个人能力档案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工程师 → 技能等级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L1/L2/L3 分级，多认证挂载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能力矩阵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能力矩阵管理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6 大领域热力图，一眼看团队短板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培训记录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培训管理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外部认证 + 内部培训档案 + 成本字段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IDP 个人发展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培训 → IDP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每人发展计划：目标 + 行动项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知识资产库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FDE 知识库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7 大类资产，跨项目可复用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支柱 ③ · 利润清晰可控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09399"/>
                </a:solidFill>
                <a:latin typeface="PingFang SC"/>
              </a:rPr>
              <a:t>三种口径并存，按角色分发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000">
                <a:solidFill>
                  <a:srgbClr val="303133"/>
                </a:solidFill>
                <a:latin typeface="PingFang SC"/>
              </a:rPr>
              <a:t>A 口径 · 团队整体真实利润值（admin / lead / finance）</a:t>
            </a:r>
          </a:p>
          <a:p>
            <a:pPr algn="l">
              <a:lnSpc>
                <a:spcPct val="140000"/>
              </a:lnSpc>
            </a:pPr>
            <a:r>
              <a:rPr sz="20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000">
                <a:solidFill>
                  <a:srgbClr val="303133"/>
                </a:solidFill>
                <a:latin typeface="PingFang SC"/>
              </a:rPr>
              <a:t>B 口径 · 销售/客户打白工场景 + 欠款（admin / lead / finance）</a:t>
            </a:r>
          </a:p>
          <a:p>
            <a:pPr algn="l">
              <a:lnSpc>
                <a:spcPct val="140000"/>
              </a:lnSpc>
            </a:pPr>
            <a:r>
              <a:rPr sz="20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2000">
                <a:solidFill>
                  <a:srgbClr val="303133"/>
                </a:solidFill>
                <a:latin typeface="PingFang SC"/>
              </a:rPr>
              <a:t>C 口径 · 领导层检视数据 = 服务费降本 + 打白工增效（所有人）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46320"/>
            <a:ext cx="10817352" cy="822960"/>
          </a:xfrm>
          <a:prstGeom prst="rect">
            <a:avLst/>
          </a:prstGeom>
          <a:solidFill>
            <a:srgbClr val="ECF5FF"/>
          </a:solidFill>
          <a:ln>
            <a:solidFill>
              <a:srgbClr val="006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66B3"/>
                </a:solidFill>
                <a:latin typeface="PingFang SC"/>
              </a:rPr>
              <a:t>⭐ 驾驶舱视角看不到真实利润 · 三口径同时存在 · 对内透明 + 对外讲故事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支柱 ④ · 团队成本精细管理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09399"/>
                </a:solidFill>
                <a:latin typeface="PingFang SC"/>
              </a:rPr>
              <a:t>8 类支出统一抽象 · 审批流闭环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8 类支出：耗材 / 分包 / 临时人力 / 许可证 / 差旅 / 培训 / 其他 / 外包工程师支出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审批流：提交 → pending → approved / rejected → paid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Vendor 角色：只能提交，不能审批；只看自己 Vendor 名下数据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每笔支出可追溯到项目 / 工程师 / 责任人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财务一键导出报表，关账时间缩短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46320"/>
            <a:ext cx="10817352" cy="822960"/>
          </a:xfrm>
          <a:prstGeom prst="rect">
            <a:avLst/>
          </a:prstGeom>
          <a:solidFill>
            <a:srgbClr val="ECF5FF"/>
          </a:solidFill>
          <a:ln>
            <a:solidFill>
              <a:srgbClr val="006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66B3"/>
                </a:solidFill>
                <a:latin typeface="PingFang SC"/>
              </a:rPr>
              <a:t>⭐ vendor 端透明：消除「假发票 / 重复报销」的灰色空间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支柱 ⑤ · 驾驶舱 · High Level 价值展示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1735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4992624"/>
                <a:gridCol w="4160520"/>
              </a:tblGrid>
              <a:tr h="4953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Tab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主题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给谁看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01 总览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在管项目 + HK 地图 + 客户 Logo 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老板 + 客户来访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02 降本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服务商 vs FDE 公司毛利率对比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老板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03 项目进度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在管 / 完成 / 14 天到期 / 累计交付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团队周会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04 技术沉淀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累计资产 / 跨项目复用 / 节省工时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内部能力展示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05 团队能力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认证矩阵热力图 + Top 持证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招标资质证明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三、系统化落地：8 维度业务闭环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09399"/>
                </a:solidFill>
                <a:latin typeface="PingFang SC"/>
              </a:rPr>
              <a:t>立项 → 派单 → 执行 → 验收 → 复盘 → 续单 → 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立项 + 报价 + 中标 → 项目和客户管理（bid_outcome 状态机）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派单 → 派单和工时管理（Assignment 接拒留痕）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执行 → 工时 / 支出 / VSF（加权工时 + 审批流）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验收 → 项目效率管理（对接工程师 + 互动留言）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复盘 → 关键项目复盘管理（满意度 + 闭环开关）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续单跟踪 → 续单跟踪（含 6 类输因，自动算胜率）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46320"/>
            <a:ext cx="10817352" cy="822960"/>
          </a:xfrm>
          <a:prstGeom prst="rect">
            <a:avLst/>
          </a:prstGeom>
          <a:solidFill>
            <a:srgbClr val="ECF5FF"/>
          </a:solidFill>
          <a:ln>
            <a:solidFill>
              <a:srgbClr val="006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66B3"/>
                </a:solidFill>
                <a:latin typeface="PingFang SC"/>
              </a:rPr>
              <a:t>⭐ 工程师属于外部敏感资源，不可用 iCan 通用平台 — 需打造完美契合的专属系统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三、一个项目的完整数字旅程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09399"/>
                </a:solidFill>
                <a:latin typeface="PingFang SC"/>
              </a:rPr>
              <a:t>所有数字自动联动 · 无需人工对账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Sales 立项 → 录入客户 + 外包估算 → bid_outcome=pending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中标通知 → 改 bid_outcome=won → 驾驶舱降本数字立即跳升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PM 派单 + 工程师执行 → Assignment + 加权工时 + 支出审批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管理员录入中标金额 → 公司毛利率公式自动重算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项目交付完成 → 写复盘 + 满意度 + 行动项闭环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700">
                <a:solidFill>
                  <a:srgbClr val="303133"/>
                </a:solidFill>
                <a:latin typeface="PingFang SC"/>
              </a:rPr>
              <a:t>半年后续单 → RenewalAttempt 跟踪 → 输了记 6 类原因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四、价值放大 · 财务维度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1735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5061"/>
                <a:gridCol w="3605784"/>
                <a:gridCol w="4056507"/>
              </a:tblGrid>
              <a:tr h="4953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输出维度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系统能力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用途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公司毛利率提升测算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自动算服务商 vs FDE 两口径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给老板讲降本故事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单项目盈亏 (口径 B)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团队入账 − 项目成本明细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销售考核 / 客户分级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团队真实利润 (口径 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VSF − 全部支出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内部预算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驾驶舱节省金额 (口径 C)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外包估算 − 团队入账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对外讲故事 + 招标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月度 / 季度趋势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多周期对比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战略复盘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四、价值放大 · 运营维度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1735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5061"/>
                <a:gridCol w="4056507"/>
                <a:gridCol w="3605784"/>
              </a:tblGrid>
              <a:tr h="4953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运营场景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服务商模式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系统化后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项目立项到派单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多日邮件来回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系统内一键完成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月度财务关账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Excel 多表对账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系统报表一键导出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工程师能力台账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半年手工统计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实时（季度自动快照）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客户来访演示准备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半天整理 PPT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0 分钟（直接投屏驾驶舱）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项目复盘文档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散落各处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100% 入库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四、价值放大 · 能力维度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09399"/>
                </a:solidFill>
                <a:latin typeface="PingFang SC"/>
              </a:rPr>
              <a:t>系统能跟踪的团队能力指标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工程师档案：个人能力树（认证 + 技能 + IDP + 培训史）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团队总数 + 在职/离职分类统计 → 驾驶舱 KPI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厂商认证矩阵：6 大领域 × L1-L3，热力图 + 招标资料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Top 持证工程师榜单（驾驶舱榜单）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招标资质证明一键导出（L3 持证清单）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46320"/>
            <a:ext cx="10817352" cy="822960"/>
          </a:xfrm>
          <a:prstGeom prst="rect">
            <a:avLst/>
          </a:prstGeom>
          <a:solidFill>
            <a:srgbClr val="ECF5FF"/>
          </a:solidFill>
          <a:ln>
            <a:solidFill>
              <a:srgbClr val="006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66B3"/>
                </a:solidFill>
                <a:latin typeface="PingFang SC"/>
              </a:rPr>
              <a:t>⭐ 客户来访可凭驾驶舱「团队能力视图」实时证明团队实力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五、多角色：6 角色 × 11 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1735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892"/>
                <a:gridCol w="2704338"/>
                <a:gridCol w="6310122"/>
              </a:tblGrid>
              <a:tr h="4963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角色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职责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看什么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超级管理员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全权限，1 个内部账号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lead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团队负责人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全部利润 + 战略决策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项目经理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立项 + 派单 + 改项目 + 审支出（不看利润）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finance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财务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审支出 + 看利润 + 出报表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基层工程师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只看自己派单 / 工时 / 支出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vendor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Vendor 联系人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只看自己 Vendor 名下支出，不能审批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五、权限设计 3 大原则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09399"/>
                </a:solidFill>
                <a:latin typeface="PingFang SC"/>
              </a:rPr>
              <a:t>不是配置，是架构层守门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驾驶舱合规优先：/api/cockpit/* 严禁返回 A/B 利润字段，CI 守门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数据归属精确隔离：Vendor 按 vendor_id 过滤，Engineer 按 engineer_id 过滤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敏感字段二次门禁：证件号明文查看需再次确认 + 写审计日志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0066B3"/>
                </a:solidFill>
                <a:latin typeface="PingFang SC"/>
              </a:rPr>
              <a:t>● </a:t>
            </a:r>
            <a:r>
              <a:rPr sz="1800">
                <a:solidFill>
                  <a:srgbClr val="303133"/>
                </a:solidFill>
                <a:latin typeface="PingFang SC"/>
              </a:rPr>
              <a:t>符合 PDPO（香港个人资料隐私条例）要求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46320"/>
            <a:ext cx="10817352" cy="822960"/>
          </a:xfrm>
          <a:prstGeom prst="rect">
            <a:avLst/>
          </a:prstGeom>
          <a:solidFill>
            <a:srgbClr val="ECF5FF"/>
          </a:solidFill>
          <a:ln>
            <a:solidFill>
              <a:srgbClr val="006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66B3"/>
                </a:solidFill>
                <a:latin typeface="PingFang SC"/>
              </a:rPr>
              <a:t>⭐ 即使开发同事写错 API，CI 守门也会拦住 — 不可绕过的合规底线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66B3"/>
                </a:solidFill>
                <a:latin typeface="PingFang SC"/>
              </a:rPr>
              <a:t>六、未来演进：5 大战略方向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FDE 团队管理系统 · v0.6 beta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20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17351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683"/>
                <a:gridCol w="3328416"/>
                <a:gridCol w="6823252"/>
              </a:tblGrid>
              <a:tr h="4953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#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方向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</a:rPr>
                        <a:t>关键动作</a:t>
                      </a:r>
                    </a:p>
                  </a:txBody>
                  <a:tcPr>
                    <a:solidFill>
                      <a:srgbClr val="0066B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坚持工程师外包路线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保留人力弹性 + 不占编制；系统化让外包从黑盒变白盒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②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外包工程师薪资支付合规优化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薪资透传机制 + 第三方代发 + 月度凭证审核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扩大工程师类型 + 人数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新增 5G / 数据中心 / 售前助理 / 国际项目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④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系统展示更深层维度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客户终身价值 / Vendor 性价比 / 工程师 ROI / 预测性指标</a:t>
                      </a:r>
                    </a:p>
                  </a:txBody>
                  <a:tcPr>
                    <a:solidFill>
                      <a:srgbClr val="ECF5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66B3"/>
                          </a:solidFill>
                          <a:latin typeface="PingFang SC"/>
                        </a:rPr>
                        <a:t>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接更多标杆项目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03133"/>
                          </a:solidFill>
                          <a:latin typeface="PingFang SC"/>
                        </a:rPr>
                        <a:t>金融 / 政府 / 跨境 / IDC / 海外 — 系统化能力换大单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9399"/>
                </a:solidFill>
                <a:latin typeface="PingFang SC"/>
              </a:rPr>
              <a:t>中国电信国际香港分公司 · FDE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9399"/>
                </a:solidFill>
                <a:latin typeface="PingFang SC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PingFang SC"/>
              </a:rPr>
              <a:t>系统化 · 透明化 · 合规化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00BCD4"/>
                </a:solidFill>
                <a:latin typeface="PingFang SC"/>
              </a:rPr>
              <a:t>FDE 团队从「外包成本中心」向「公司战略资产」演进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531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B740"/>
                </a:solidFill>
                <a:latin typeface="PingFang SC"/>
              </a:rPr>
              <a:t>请领导决策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840480"/>
            <a:ext cx="8531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PingFang SC"/>
              </a:rPr>
              <a:t>1. 是否同意按 5 大战略方向推动业务扩展？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8531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PingFang SC"/>
              </a:rPr>
              <a:t>2. 系统正式上线天翼云 ECS 的预算 / 时间窗口？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00BCD4"/>
                </a:solidFill>
                <a:latin typeface="PingFang SC"/>
              </a:rPr>
              <a:t>—— 谢谢 ——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